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70" r:id="rId4"/>
    <p:sldId id="271" r:id="rId5"/>
    <p:sldId id="258" r:id="rId6"/>
    <p:sldId id="272" r:id="rId7"/>
    <p:sldId id="273" r:id="rId8"/>
    <p:sldId id="260" r:id="rId9"/>
    <p:sldId id="261" r:id="rId10"/>
    <p:sldId id="262" r:id="rId11"/>
    <p:sldId id="263" r:id="rId12"/>
    <p:sldId id="264" r:id="rId13"/>
    <p:sldId id="265" r:id="rId14"/>
    <p:sldId id="277" r:id="rId15"/>
    <p:sldId id="266" r:id="rId16"/>
    <p:sldId id="278" r:id="rId17"/>
    <p:sldId id="267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EAA98-1AE9-493A-BA7B-A2E45FFF2CED}" type="datetimeFigureOut">
              <a:rPr lang="fi-FI" smtClean="0"/>
              <a:t>26.1.2026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093C4-66E6-4D20-917C-DCAFBC92896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218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8C93F1A-650B-F4B1-9F7F-988753DA47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867" y="5540589"/>
            <a:ext cx="3767226" cy="14013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python3/" TargetMode="External"/><Relationship Id="rId2" Type="http://schemas.openxmlformats.org/officeDocument/2006/relationships/hyperlink" Target="https://conda.io/projects/conda/en/latest/user-guide/install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image.org/docs/dev/index.html" TargetMode="External"/><Relationship Id="rId4" Type="http://schemas.openxmlformats.org/officeDocument/2006/relationships/hyperlink" Target="https://scikit-learn.org/stable/user_guide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892"/>
            <a:ext cx="7772400" cy="1470025"/>
          </a:xfrm>
        </p:spPr>
        <p:txBody>
          <a:bodyPr/>
          <a:lstStyle/>
          <a:p>
            <a:r>
              <a:rPr lang="fi-FI" dirty="0" err="1"/>
              <a:t>Instructions</a:t>
            </a:r>
            <a:r>
              <a:rPr lang="fi-FI" dirty="0"/>
              <a:t> for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Leaf</a:t>
            </a:r>
            <a:r>
              <a:rPr lang="fi-FI" dirty="0"/>
              <a:t> </a:t>
            </a:r>
            <a:r>
              <a:rPr lang="fi-FI" dirty="0" err="1"/>
              <a:t>Classification</a:t>
            </a:r>
            <a:r>
              <a:rPr lang="fi-FI" dirty="0"/>
              <a:t> </a:t>
            </a:r>
            <a:r>
              <a:rPr lang="fi-FI" dirty="0" err="1"/>
              <a:t>Problem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11668" y="3776133"/>
            <a:ext cx="9423401" cy="1752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TKO 3120 Machine Learning and Pattern Recognition 2026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16DCA-096F-FC4C-9B45-CB0AB0DE5C5A}"/>
              </a:ext>
            </a:extLst>
          </p:cNvPr>
          <p:cNvSpPr txBox="1"/>
          <p:nvPr/>
        </p:nvSpPr>
        <p:spPr>
          <a:xfrm>
            <a:off x="423333" y="4913841"/>
            <a:ext cx="3183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Welgamage Supun</a:t>
            </a:r>
          </a:p>
          <a:p>
            <a:r>
              <a:rPr lang="en-US" dirty="0"/>
              <a:t>Doctoral Researcher Department of Computing</a:t>
            </a:r>
          </a:p>
          <a:p>
            <a:r>
              <a:rPr lang="en-US" dirty="0"/>
              <a:t>svwelg@utu.fi</a:t>
            </a:r>
            <a:endParaRPr lang="fi-FI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AA98-F81F-7F3A-087D-2C9CAAA4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Exercise task in general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A1CD0-A450-385D-FC98-4DB0A7AFE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914400"/>
            <a:ext cx="8627533" cy="5943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• The task is to classify leaf images using supervised machine learning </a:t>
            </a:r>
          </a:p>
          <a:p>
            <a:pPr marL="0" indent="0">
              <a:buNone/>
            </a:pPr>
            <a:r>
              <a:rPr lang="en-US" sz="2000" dirty="0"/>
              <a:t>• 3 different leaf classes of images, one label per image </a:t>
            </a:r>
          </a:p>
          <a:p>
            <a:pPr marL="0" indent="0">
              <a:buNone/>
            </a:pPr>
            <a:r>
              <a:rPr lang="en-US" sz="2000" dirty="0"/>
              <a:t>• Gather a training set by extracting several features from the images </a:t>
            </a:r>
          </a:p>
          <a:p>
            <a:pPr marL="0" indent="0">
              <a:buNone/>
            </a:pPr>
            <a:r>
              <a:rPr lang="en-US" sz="2000" dirty="0"/>
              <a:t>• Train classifiers to identify the classes of the images </a:t>
            </a:r>
          </a:p>
          <a:p>
            <a:pPr marL="0" indent="0">
              <a:buNone/>
            </a:pPr>
            <a:r>
              <a:rPr lang="en-US" sz="2000" dirty="0"/>
              <a:t>		Ridge Classifier </a:t>
            </a:r>
          </a:p>
          <a:p>
            <a:pPr marL="0" indent="0">
              <a:buNone/>
            </a:pPr>
            <a:r>
              <a:rPr lang="en-US" sz="2000" dirty="0"/>
              <a:t>		Random Forest </a:t>
            </a:r>
          </a:p>
          <a:p>
            <a:pPr marL="0" indent="0">
              <a:buNone/>
            </a:pPr>
            <a:r>
              <a:rPr lang="en-US" sz="2000" dirty="0"/>
              <a:t>		Multi-Layer Perceptron </a:t>
            </a:r>
          </a:p>
          <a:p>
            <a:pPr marL="0" indent="0">
              <a:buNone/>
            </a:pPr>
            <a:r>
              <a:rPr lang="en-US" sz="2000" dirty="0"/>
              <a:t>• Find the best hyperparameters for the classifiers </a:t>
            </a:r>
          </a:p>
          <a:p>
            <a:pPr marL="0" indent="0">
              <a:buNone/>
            </a:pPr>
            <a:r>
              <a:rPr lang="en-US" sz="2000" dirty="0"/>
              <a:t>• Estimate the performance of each classifier </a:t>
            </a:r>
          </a:p>
          <a:p>
            <a:pPr marL="0" indent="0">
              <a:buNone/>
            </a:pPr>
            <a:r>
              <a:rPr lang="en-US" sz="2000" dirty="0"/>
              <a:t>• Coding with Python </a:t>
            </a:r>
          </a:p>
          <a:p>
            <a:pPr marL="0" indent="0">
              <a:buNone/>
            </a:pPr>
            <a:r>
              <a:rPr lang="en-US" sz="2000" dirty="0"/>
              <a:t>• Individual exercise to be submitted by </a:t>
            </a:r>
            <a:r>
              <a:rPr lang="en-US" sz="2000" dirty="0">
                <a:highlight>
                  <a:srgbClr val="FFFF00"/>
                </a:highlight>
              </a:rPr>
              <a:t>15 March </a:t>
            </a:r>
          </a:p>
          <a:p>
            <a:pPr marL="0" indent="0">
              <a:buNone/>
            </a:pPr>
            <a:r>
              <a:rPr lang="en-US" sz="2000" dirty="0"/>
              <a:t>• Please note: Project work must be </a:t>
            </a:r>
            <a:r>
              <a:rPr lang="en-US" sz="2000" b="1" dirty="0"/>
              <a:t>submitted before </a:t>
            </a:r>
            <a:r>
              <a:rPr lang="en-US" sz="2000" dirty="0"/>
              <a:t>taking the e‑exam.</a:t>
            </a:r>
            <a:endParaRPr lang="en-US" sz="20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000" dirty="0"/>
              <a:t>• A </a:t>
            </a:r>
            <a:r>
              <a:rPr lang="en-US" sz="2000" dirty="0" err="1"/>
              <a:t>Jupyter</a:t>
            </a:r>
            <a:r>
              <a:rPr lang="en-US" sz="2000" dirty="0"/>
              <a:t> Notebook template, image folders for </a:t>
            </a:r>
            <a:r>
              <a:rPr lang="en-US" sz="2000" dirty="0" err="1"/>
              <a:t>leafs</a:t>
            </a:r>
            <a:r>
              <a:rPr lang="en-US" sz="2000" dirty="0"/>
              <a:t>, and instructions will be found on the Moodle course page</a:t>
            </a:r>
            <a:endParaRPr lang="fi-FI" sz="2000" dirty="0"/>
          </a:p>
        </p:txBody>
      </p:sp>
    </p:spTree>
    <p:extLst>
      <p:ext uri="{BB962C8B-B14F-4D97-AF65-F5344CB8AC3E}">
        <p14:creationId xmlns:p14="http://schemas.microsoft.com/office/powerpoint/2010/main" val="101844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365C4-8583-E570-DB3A-35FCDBBF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i-FI" dirty="0" err="1"/>
              <a:t>Anaconda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EF29A-D5B0-2FDD-8BBD-842C43ACF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423400" cy="48937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i-FI" sz="2000" dirty="0"/>
              <a:t>• </a:t>
            </a:r>
            <a:r>
              <a:rPr lang="fi-FI" sz="2000" dirty="0" err="1"/>
              <a:t>Install</a:t>
            </a:r>
            <a:r>
              <a:rPr lang="fi-FI" sz="2000" dirty="0"/>
              <a:t> </a:t>
            </a:r>
            <a:r>
              <a:rPr lang="fi-FI" sz="2000" dirty="0" err="1"/>
              <a:t>Miniconda</a:t>
            </a:r>
            <a:r>
              <a:rPr lang="fi-FI" sz="2000" dirty="0"/>
              <a:t> </a:t>
            </a:r>
            <a:r>
              <a:rPr lang="fi-FI" sz="2000" dirty="0" err="1"/>
              <a:t>or</a:t>
            </a:r>
            <a:r>
              <a:rPr lang="fi-FI" sz="2000" dirty="0"/>
              <a:t> </a:t>
            </a:r>
            <a:r>
              <a:rPr lang="fi-FI" sz="2000" dirty="0" err="1"/>
              <a:t>Anaconda</a:t>
            </a:r>
            <a:r>
              <a:rPr lang="fi-FI" sz="2000" dirty="0"/>
              <a:t> </a:t>
            </a:r>
            <a:r>
              <a:rPr lang="fi-FI" sz="2000" dirty="0" err="1"/>
              <a:t>Distribution</a:t>
            </a:r>
            <a:r>
              <a:rPr lang="fi-FI" sz="2000" dirty="0"/>
              <a:t> to </a:t>
            </a:r>
            <a:r>
              <a:rPr lang="fi-FI" sz="2000" dirty="0" err="1"/>
              <a:t>your</a:t>
            </a:r>
            <a:r>
              <a:rPr lang="fi-FI" sz="2000" dirty="0"/>
              <a:t> </a:t>
            </a:r>
            <a:r>
              <a:rPr lang="fi-FI" sz="2000" dirty="0" err="1"/>
              <a:t>computer</a:t>
            </a:r>
            <a:r>
              <a:rPr lang="fi-FI" sz="2000" dirty="0"/>
              <a:t> (Python 3) </a:t>
            </a:r>
          </a:p>
          <a:p>
            <a:pPr marL="0" indent="0">
              <a:buNone/>
            </a:pPr>
            <a:r>
              <a:rPr lang="fi-FI" sz="2000" dirty="0"/>
              <a:t>	• </a:t>
            </a:r>
            <a:r>
              <a:rPr lang="fi-FI" sz="2000" dirty="0">
                <a:hlinkClick r:id="rId2"/>
              </a:rPr>
              <a:t>https://conda.io/projects/conda/en/latest/user-guide/install/index.html </a:t>
            </a:r>
            <a:endParaRPr lang="fi-FI" sz="2000" dirty="0"/>
          </a:p>
          <a:p>
            <a:pPr marL="0" indent="0">
              <a:buNone/>
            </a:pPr>
            <a:r>
              <a:rPr lang="fi-FI" sz="2000" dirty="0"/>
              <a:t>	• </a:t>
            </a:r>
            <a:r>
              <a:rPr lang="fi-FI" sz="2000" dirty="0" err="1"/>
              <a:t>Includes</a:t>
            </a:r>
            <a:r>
              <a:rPr lang="fi-FI" sz="2000" dirty="0"/>
              <a:t> </a:t>
            </a:r>
            <a:r>
              <a:rPr lang="fi-FI" sz="2000" dirty="0" err="1"/>
              <a:t>NumPy</a:t>
            </a:r>
            <a:r>
              <a:rPr lang="fi-FI" sz="2000" dirty="0"/>
              <a:t>, </a:t>
            </a:r>
            <a:r>
              <a:rPr lang="fi-FI" sz="2000" dirty="0" err="1"/>
              <a:t>Pandas</a:t>
            </a:r>
            <a:r>
              <a:rPr lang="fi-FI" sz="2000" dirty="0"/>
              <a:t>, </a:t>
            </a:r>
            <a:r>
              <a:rPr lang="fi-FI" sz="2000" dirty="0" err="1"/>
              <a:t>Jupyter</a:t>
            </a:r>
            <a:r>
              <a:rPr lang="fi-FI" sz="2000" dirty="0"/>
              <a:t>, </a:t>
            </a:r>
            <a:r>
              <a:rPr lang="fi-FI" sz="2000" dirty="0" err="1"/>
              <a:t>scikit-learn</a:t>
            </a:r>
            <a:r>
              <a:rPr lang="fi-FI" sz="2000" dirty="0"/>
              <a:t>, </a:t>
            </a:r>
            <a:r>
              <a:rPr lang="fi-FI" sz="2000" dirty="0" err="1"/>
              <a:t>scikit</a:t>
            </a:r>
            <a:r>
              <a:rPr lang="fi-FI" sz="2000" dirty="0"/>
              <a:t>-image, </a:t>
            </a:r>
            <a:r>
              <a:rPr lang="fi-FI" sz="2000" dirty="0" err="1"/>
              <a:t>Matplotlib</a:t>
            </a:r>
            <a:r>
              <a:rPr lang="fi-FI" sz="2000" dirty="0"/>
              <a:t> </a:t>
            </a:r>
          </a:p>
          <a:p>
            <a:pPr marL="0" indent="0">
              <a:buNone/>
            </a:pPr>
            <a:r>
              <a:rPr lang="fi-FI" sz="2000" dirty="0"/>
              <a:t>	• </a:t>
            </a:r>
            <a:r>
              <a:rPr lang="fi-FI" sz="2000" dirty="0" err="1"/>
              <a:t>You</a:t>
            </a:r>
            <a:r>
              <a:rPr lang="fi-FI" sz="2000" dirty="0"/>
              <a:t> </a:t>
            </a:r>
            <a:r>
              <a:rPr lang="fi-FI" sz="2000" dirty="0" err="1"/>
              <a:t>may</a:t>
            </a:r>
            <a:r>
              <a:rPr lang="fi-FI" sz="2000" dirty="0"/>
              <a:t> </a:t>
            </a:r>
            <a:r>
              <a:rPr lang="fi-FI" sz="2000" dirty="0" err="1"/>
              <a:t>also</a:t>
            </a:r>
            <a:r>
              <a:rPr lang="fi-FI" sz="2000" dirty="0"/>
              <a:t> </a:t>
            </a:r>
            <a:r>
              <a:rPr lang="fi-FI" sz="2000" dirty="0" err="1"/>
              <a:t>use</a:t>
            </a:r>
            <a:r>
              <a:rPr lang="fi-FI" sz="2000" dirty="0"/>
              <a:t> </a:t>
            </a:r>
            <a:r>
              <a:rPr lang="fi-FI" sz="2000" dirty="0" err="1"/>
              <a:t>other</a:t>
            </a:r>
            <a:r>
              <a:rPr lang="fi-FI" sz="2000" dirty="0"/>
              <a:t> </a:t>
            </a:r>
            <a:r>
              <a:rPr lang="fi-FI" sz="2000" dirty="0" err="1"/>
              <a:t>modules</a:t>
            </a:r>
            <a:r>
              <a:rPr lang="fi-FI" sz="2000" dirty="0"/>
              <a:t> </a:t>
            </a:r>
            <a:r>
              <a:rPr lang="fi-FI" sz="2000" dirty="0" err="1"/>
              <a:t>if</a:t>
            </a:r>
            <a:r>
              <a:rPr lang="fi-FI" sz="2000" dirty="0"/>
              <a:t> </a:t>
            </a:r>
            <a:r>
              <a:rPr lang="fi-FI" sz="2000" dirty="0" err="1"/>
              <a:t>needed</a:t>
            </a:r>
            <a:r>
              <a:rPr lang="fi-FI" sz="2000" dirty="0"/>
              <a:t> </a:t>
            </a:r>
          </a:p>
          <a:p>
            <a:pPr marL="0" indent="0">
              <a:buNone/>
            </a:pPr>
            <a:endParaRPr lang="fi-FI" sz="2000" dirty="0"/>
          </a:p>
          <a:p>
            <a:pPr marL="0" indent="0">
              <a:buNone/>
            </a:pPr>
            <a:r>
              <a:rPr lang="fi-FI" sz="2000" dirty="0"/>
              <a:t>• </a:t>
            </a:r>
            <a:r>
              <a:rPr lang="fi-FI" sz="2000" dirty="0" err="1"/>
              <a:t>Tutorials</a:t>
            </a:r>
            <a:r>
              <a:rPr lang="fi-FI" sz="2000" dirty="0"/>
              <a:t> </a:t>
            </a:r>
          </a:p>
          <a:p>
            <a:pPr marL="0" indent="0">
              <a:buNone/>
            </a:pPr>
            <a:r>
              <a:rPr lang="fi-FI" sz="2000" dirty="0"/>
              <a:t>	• </a:t>
            </a:r>
            <a:r>
              <a:rPr lang="fi-FI" sz="2000" dirty="0" err="1"/>
              <a:t>Jupyter</a:t>
            </a:r>
            <a:r>
              <a:rPr lang="fi-FI" sz="2000" dirty="0"/>
              <a:t> </a:t>
            </a:r>
            <a:r>
              <a:rPr lang="fi-FI" sz="2000" dirty="0" err="1"/>
              <a:t>Notebook</a:t>
            </a:r>
            <a:r>
              <a:rPr lang="fi-FI" sz="2000" dirty="0"/>
              <a:t> </a:t>
            </a:r>
          </a:p>
          <a:p>
            <a:pPr marL="0" indent="0">
              <a:buNone/>
            </a:pPr>
            <a:r>
              <a:rPr lang="fi-FI" sz="2000" dirty="0"/>
              <a:t>		• </a:t>
            </a:r>
            <a:r>
              <a:rPr lang="fi-FI" sz="2000" dirty="0">
                <a:hlinkClick r:id="rId2"/>
              </a:rPr>
              <a:t>https://www.dataquest.io/blog/jupyter-notebook-tutorial/ </a:t>
            </a:r>
            <a:endParaRPr lang="fi-FI" sz="2000" dirty="0"/>
          </a:p>
          <a:p>
            <a:pPr marL="0" indent="0">
              <a:buNone/>
            </a:pPr>
            <a:r>
              <a:rPr lang="fi-FI" sz="2000" dirty="0"/>
              <a:t>	• Python 3 </a:t>
            </a:r>
          </a:p>
          <a:p>
            <a:pPr marL="0" indent="0">
              <a:buNone/>
            </a:pPr>
            <a:r>
              <a:rPr lang="fi-FI" sz="2000" dirty="0"/>
              <a:t>		• </a:t>
            </a:r>
            <a:r>
              <a:rPr lang="fi-FI" sz="2000" dirty="0">
                <a:hlinkClick r:id="rId3"/>
              </a:rPr>
              <a:t>https://www.tutorialspoint.com/python3/ </a:t>
            </a:r>
            <a:endParaRPr lang="fi-FI" sz="2000" dirty="0"/>
          </a:p>
          <a:p>
            <a:pPr marL="0" indent="0">
              <a:buNone/>
            </a:pPr>
            <a:r>
              <a:rPr lang="fi-FI" sz="2000" dirty="0"/>
              <a:t>	• </a:t>
            </a:r>
            <a:r>
              <a:rPr lang="fi-FI" sz="2000" dirty="0" err="1"/>
              <a:t>Scikit-learn</a:t>
            </a:r>
            <a:r>
              <a:rPr lang="fi-FI" sz="2000" dirty="0"/>
              <a:t> </a:t>
            </a:r>
          </a:p>
          <a:p>
            <a:pPr marL="0" indent="0">
              <a:buNone/>
            </a:pPr>
            <a:r>
              <a:rPr lang="fi-FI" sz="2000" dirty="0"/>
              <a:t>		• </a:t>
            </a:r>
            <a:r>
              <a:rPr lang="fi-FI" sz="2000" dirty="0">
                <a:hlinkClick r:id="rId4"/>
              </a:rPr>
              <a:t>https://scikit-learn.org/stable/user_guide.html </a:t>
            </a:r>
            <a:endParaRPr lang="fi-FI" sz="2000" dirty="0"/>
          </a:p>
          <a:p>
            <a:pPr marL="0" indent="0">
              <a:buNone/>
            </a:pPr>
            <a:r>
              <a:rPr lang="fi-FI" sz="2000" dirty="0"/>
              <a:t>	• </a:t>
            </a:r>
            <a:r>
              <a:rPr lang="fi-FI" sz="2000" dirty="0" err="1"/>
              <a:t>Scikit</a:t>
            </a:r>
            <a:r>
              <a:rPr lang="fi-FI" sz="2000" dirty="0"/>
              <a:t>-image </a:t>
            </a:r>
          </a:p>
          <a:p>
            <a:pPr marL="0" indent="0">
              <a:buNone/>
            </a:pPr>
            <a:r>
              <a:rPr lang="fi-FI" sz="2000" dirty="0"/>
              <a:t>		• </a:t>
            </a:r>
            <a:r>
              <a:rPr lang="fi-FI" sz="2000" dirty="0">
                <a:hlinkClick r:id="rId5"/>
              </a:rPr>
              <a:t>https://scikit-image.org/docs/dev/index.html</a:t>
            </a:r>
            <a:endParaRPr lang="fi-FI" sz="2000" dirty="0"/>
          </a:p>
        </p:txBody>
      </p:sp>
    </p:spTree>
    <p:extLst>
      <p:ext uri="{BB962C8B-B14F-4D97-AF65-F5344CB8AC3E}">
        <p14:creationId xmlns:p14="http://schemas.microsoft.com/office/powerpoint/2010/main" val="292860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0B0F-5AF7-71E9-8817-3B8D0CD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Google </a:t>
            </a:r>
            <a:r>
              <a:rPr lang="en-US" dirty="0" err="1"/>
              <a:t>Colaboratory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0E09E-3DF0-4BE3-1E02-C018B0809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Write and execute Python in your browser </a:t>
            </a:r>
          </a:p>
          <a:p>
            <a:pPr marL="0" indent="0">
              <a:buNone/>
            </a:pPr>
            <a:r>
              <a:rPr lang="en-US" sz="2400" dirty="0"/>
              <a:t>• No configuration required </a:t>
            </a:r>
          </a:p>
          <a:p>
            <a:pPr marL="0" indent="0">
              <a:buNone/>
            </a:pPr>
            <a:r>
              <a:rPr lang="en-US" sz="2400" dirty="0"/>
              <a:t>• Free access to GPUs </a:t>
            </a:r>
          </a:p>
          <a:p>
            <a:pPr marL="0" indent="0">
              <a:buNone/>
            </a:pPr>
            <a:r>
              <a:rPr lang="en-US" sz="2400" dirty="0"/>
              <a:t>• Easy sharing </a:t>
            </a:r>
          </a:p>
          <a:p>
            <a:pPr marL="0" indent="0">
              <a:buNone/>
            </a:pPr>
            <a:r>
              <a:rPr lang="en-US" sz="2400" dirty="0"/>
              <a:t>	• </a:t>
            </a:r>
            <a:r>
              <a:rPr lang="en-US" sz="2400" dirty="0">
                <a:hlinkClick r:id="rId2"/>
              </a:rPr>
              <a:t>https://colab.research.google.com/</a:t>
            </a:r>
            <a:endParaRPr lang="fi-FI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F09D44-89C3-A384-DEF4-7A13CD14B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84" y="4031314"/>
            <a:ext cx="3371849" cy="27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5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Three leaf classes: Basil, Lemon, Chinar</a:t>
            </a:r>
          </a:p>
          <a:p>
            <a:r>
              <a:rPr dirty="0"/>
              <a:t>RGB images</a:t>
            </a:r>
          </a:p>
          <a:p>
            <a:r>
              <a:rPr dirty="0"/>
              <a:t>Each image processed independently</a:t>
            </a:r>
            <a:endParaRPr lang="en-US" dirty="0"/>
          </a:p>
          <a:p>
            <a:r>
              <a:rPr lang="fi-FI" dirty="0"/>
              <a:t>Data </a:t>
            </a:r>
            <a:r>
              <a:rPr lang="fi-FI" dirty="0" err="1"/>
              <a:t>source</a:t>
            </a:r>
            <a:r>
              <a:rPr lang="fi-FI" dirty="0"/>
              <a:t> is </a:t>
            </a:r>
            <a:r>
              <a:rPr lang="fi-FI" dirty="0" err="1"/>
              <a:t>Kaggle</a:t>
            </a:r>
            <a:endParaRPr dirty="0"/>
          </a:p>
        </p:txBody>
      </p:sp>
      <p:pic>
        <p:nvPicPr>
          <p:cNvPr id="6" name="Picture 5" descr="A green leaf on a black surface&#10;&#10;AI-generated content may be incorrect.">
            <a:extLst>
              <a:ext uri="{FF2B5EF4-FFF2-40B4-BE49-F238E27FC236}">
                <a16:creationId xmlns:a16="http://schemas.microsoft.com/office/drawing/2014/main" id="{6179E830-9DDC-D5FC-2A3C-76FF3AA2E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4271434"/>
            <a:ext cx="1714500" cy="1143000"/>
          </a:xfrm>
          <a:prstGeom prst="rect">
            <a:avLst/>
          </a:prstGeom>
        </p:spPr>
      </p:pic>
      <p:pic>
        <p:nvPicPr>
          <p:cNvPr id="8" name="Picture 7" descr="A green leaf on a black surface&#10;&#10;AI-generated content may be incorrect.">
            <a:extLst>
              <a:ext uri="{FF2B5EF4-FFF2-40B4-BE49-F238E27FC236}">
                <a16:creationId xmlns:a16="http://schemas.microsoft.com/office/drawing/2014/main" id="{3A0A4601-67C3-E06C-6694-6B96B65DD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817" y="4271434"/>
            <a:ext cx="1714500" cy="1143000"/>
          </a:xfrm>
          <a:prstGeom prst="rect">
            <a:avLst/>
          </a:prstGeom>
        </p:spPr>
      </p:pic>
      <p:pic>
        <p:nvPicPr>
          <p:cNvPr id="10" name="Picture 9" descr="A green leaf on a black surface&#10;&#10;AI-generated content may be incorrect.">
            <a:extLst>
              <a:ext uri="{FF2B5EF4-FFF2-40B4-BE49-F238E27FC236}">
                <a16:creationId xmlns:a16="http://schemas.microsoft.com/office/drawing/2014/main" id="{9993F4A3-6605-2C48-13DC-5EB6D81AB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083" y="4271434"/>
            <a:ext cx="17145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D8C2-C3B8-B6A5-493F-391E76AF3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Data preparation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A8FF6-0F3E-E76E-1B83-205A172F6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6134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• Read the images from the leaf </a:t>
            </a:r>
          </a:p>
          <a:p>
            <a:pPr marL="0" indent="0">
              <a:buNone/>
            </a:pPr>
            <a:r>
              <a:rPr lang="en-US" dirty="0"/>
              <a:t>• RGB images </a:t>
            </a:r>
          </a:p>
          <a:p>
            <a:pPr marL="0" indent="0">
              <a:buNone/>
            </a:pPr>
            <a:r>
              <a:rPr lang="en-US" dirty="0"/>
              <a:t>		• Stored as 3 dimensional arrays </a:t>
            </a:r>
          </a:p>
          <a:p>
            <a:pPr marL="0" indent="0">
              <a:buNone/>
            </a:pPr>
            <a:r>
              <a:rPr lang="en-US" dirty="0"/>
              <a:t>		• [height, width, color channel] </a:t>
            </a:r>
          </a:p>
          <a:p>
            <a:pPr marL="0" indent="0">
              <a:buNone/>
            </a:pPr>
            <a:r>
              <a:rPr lang="en-US" dirty="0"/>
              <a:t>		• Pixel values as 8-bit unsigned integers: [0,255]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Change the images into grayscale (2-dimensional array) and reduce the quantization level, e.g. to 8 levels, i.e. pixel values [0,7] </a:t>
            </a:r>
          </a:p>
          <a:p>
            <a:pPr marL="0" indent="0">
              <a:buNone/>
            </a:pPr>
            <a:r>
              <a:rPr lang="en-US" dirty="0"/>
              <a:t>• Calculate Gray Level Co-occurrence Matrix (GLCM)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758326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E6EC-8BD6-C327-2E19-23C16C2A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Feature extraction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791A7-AE65-7BC8-DF74-1F16EAC49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First order texture measures: statistics </a:t>
            </a:r>
          </a:p>
          <a:p>
            <a:pPr marL="0" indent="0">
              <a:buNone/>
            </a:pPr>
            <a:r>
              <a:rPr lang="en-US" sz="2400" dirty="0"/>
              <a:t>	• Calculate the mean for each RGB color channel </a:t>
            </a:r>
          </a:p>
          <a:p>
            <a:pPr marL="0" indent="0">
              <a:buNone/>
            </a:pPr>
            <a:r>
              <a:rPr lang="en-US" sz="2400" dirty="0"/>
              <a:t>	• Calculate the variance for each RGB color channel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Second-order texture measures: spatial relationships between neighboring pixels</a:t>
            </a:r>
          </a:p>
          <a:p>
            <a:pPr marL="0" indent="0">
              <a:buNone/>
            </a:pPr>
            <a:r>
              <a:rPr lang="en-US" sz="2400" dirty="0"/>
              <a:t>	• Calculate the correlation from the Gray-Level-	</a:t>
            </a:r>
            <a:r>
              <a:rPr lang="en-US" sz="2400" dirty="0" err="1"/>
              <a:t>CoOccurrence</a:t>
            </a:r>
            <a:r>
              <a:rPr lang="en-US" sz="2400" dirty="0"/>
              <a:t> matrix in horizontal and vertical directions 	with two different reference pixel distances</a:t>
            </a:r>
            <a:endParaRPr lang="fi-FI" sz="2400" dirty="0"/>
          </a:p>
        </p:txBody>
      </p:sp>
    </p:spTree>
    <p:extLst>
      <p:ext uri="{BB962C8B-B14F-4D97-AF65-F5344CB8AC3E}">
        <p14:creationId xmlns:p14="http://schemas.microsoft.com/office/powerpoint/2010/main" val="85117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dirty="0"/>
              <a:t>Second-Order Texture Features (GLCM)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GLCM describes texture by counting how often two neighboring pixels have certain gray-level values.</a:t>
            </a:r>
          </a:p>
          <a:p>
            <a:r>
              <a:rPr lang="en-US" dirty="0"/>
              <a:t>The </a:t>
            </a:r>
            <a:r>
              <a:rPr lang="en-US" b="1" dirty="0"/>
              <a:t>correlation feature</a:t>
            </a:r>
            <a:r>
              <a:rPr lang="en-US" dirty="0"/>
              <a:t> captures how strongly pixel values are related in space.</a:t>
            </a:r>
          </a:p>
          <a:p>
            <a:r>
              <a:rPr lang="en-US"/>
              <a:t>Horizontal and vertical directions with distances of 1 and 2 pixels are used to capture both fine and coarse textures.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Why These GLCM Distances?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 = 1: captures fine local texture</a:t>
            </a:r>
          </a:p>
          <a:p>
            <a:r>
              <a:t>d = 2: captures slightly coarser texture</a:t>
            </a:r>
          </a:p>
          <a:p>
            <a:r>
              <a:t>Both distances are standard and interpretable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Template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One representative leaf image is selected as a template for each class.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Normalized cross-correlation is used to measure how closely each image matches that template.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The maximum response value is used as a feature, representing how similar the leaf shape is to the class prototype.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701746-F6F4-4AAE-912C-94701D43C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71" y="4524375"/>
            <a:ext cx="6562725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Feature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color features</a:t>
            </a:r>
          </a:p>
          <a:p>
            <a:r>
              <a:t>4 GLCM correlation features</a:t>
            </a:r>
          </a:p>
          <a:p>
            <a:r>
              <a:t>3 template matching scores</a:t>
            </a:r>
          </a:p>
          <a:p>
            <a:r>
              <a:t>Total: 13 features per 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matrix X and label vector y</a:t>
            </a:r>
          </a:p>
          <a:p>
            <a:r>
              <a:t>Standardization using z-score normalization</a:t>
            </a:r>
          </a:p>
          <a:p>
            <a:r>
              <a:t>Ensures fair comparison between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• Train different classifiers to identify the classes of the images </a:t>
            </a:r>
          </a:p>
          <a:p>
            <a:pPr marL="0" indent="0">
              <a:buNone/>
            </a:pPr>
            <a:r>
              <a:rPr lang="en-US" sz="2800" dirty="0"/>
              <a:t>	• Ridge Classifier </a:t>
            </a:r>
          </a:p>
          <a:p>
            <a:pPr marL="0" indent="0">
              <a:buNone/>
            </a:pPr>
            <a:r>
              <a:rPr lang="en-US" sz="2800" dirty="0"/>
              <a:t>	• Random Forest RF </a:t>
            </a:r>
          </a:p>
          <a:p>
            <a:pPr marL="0" indent="0">
              <a:buNone/>
            </a:pPr>
            <a:r>
              <a:rPr lang="en-US" sz="2800" dirty="0"/>
              <a:t>	• Multi-Layer Perceptron MLP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• Find the best hyper-parameters for each classifier with k-fold cross validation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• Estimate the performance of the classifiers with nested cross-validation</a:t>
            </a:r>
            <a:endParaRPr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0E8B-29E7-24AB-4AB2-C0735570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i-FI" dirty="0"/>
              <a:t>K-</a:t>
            </a:r>
            <a:r>
              <a:rPr lang="fi-FI" dirty="0" err="1"/>
              <a:t>fold</a:t>
            </a:r>
            <a:r>
              <a:rPr lang="fi-FI" dirty="0"/>
              <a:t> cross </a:t>
            </a:r>
            <a:r>
              <a:rPr lang="fi-FI" dirty="0" err="1"/>
              <a:t>validation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1ED88-EFCE-CEFC-6914-C52267EE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935133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/>
              <a:t>• A single split to test/training sets may lead to unstable results </a:t>
            </a:r>
          </a:p>
          <a:p>
            <a:pPr marL="0" indent="0">
              <a:buNone/>
            </a:pPr>
            <a:r>
              <a:rPr lang="en-US" sz="2200" dirty="0"/>
              <a:t>• A procedure to estimate a model performance with unseen data (data which has not taken part in the training of the model) </a:t>
            </a:r>
          </a:p>
          <a:p>
            <a:pPr marL="0" indent="0">
              <a:buNone/>
            </a:pPr>
            <a:r>
              <a:rPr lang="en-US" sz="2200" dirty="0"/>
              <a:t>• Data is split into subsets called folds </a:t>
            </a:r>
          </a:p>
          <a:p>
            <a:pPr marL="0" indent="0">
              <a:buNone/>
            </a:pPr>
            <a:r>
              <a:rPr lang="en-US" sz="2200" dirty="0"/>
              <a:t>• Each fold has approximately the same size </a:t>
            </a:r>
          </a:p>
          <a:p>
            <a:pPr marL="0" indent="0">
              <a:buNone/>
            </a:pPr>
            <a:r>
              <a:rPr lang="en-US" sz="2200" dirty="0"/>
              <a:t>• Each fold is used once as test data while the remaining folds are used for model training </a:t>
            </a:r>
          </a:p>
          <a:p>
            <a:pPr marL="0" indent="0">
              <a:buNone/>
            </a:pPr>
            <a:r>
              <a:rPr lang="en-US" sz="2200" dirty="0"/>
              <a:t>• At each round, a performance estimation is calculated </a:t>
            </a:r>
          </a:p>
          <a:p>
            <a:pPr marL="0" indent="0">
              <a:buNone/>
            </a:pPr>
            <a:r>
              <a:rPr lang="en-US" sz="2200" dirty="0"/>
              <a:t>• The total performance is calculated as the mean performance of all rounds</a:t>
            </a:r>
            <a:endParaRPr lang="fi-FI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88CD9-D851-3964-D7DA-C6664D8F6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822" y="1295399"/>
            <a:ext cx="2585831" cy="312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03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Hyperparameter tuning is performed using </a:t>
            </a:r>
            <a:r>
              <a:rPr lang="en-US" dirty="0" err="1"/>
              <a:t>GridSearch</a:t>
            </a:r>
            <a:r>
              <a:rPr lang="en-US" dirty="0"/>
              <a:t> with cross-validation.</a:t>
            </a:r>
          </a:p>
          <a:p>
            <a:r>
              <a:rPr lang="en-US" dirty="0"/>
              <a:t>Stratified folds are used to preserve class balance.</a:t>
            </a:r>
          </a:p>
          <a:p>
            <a:r>
              <a:rPr dirty="0"/>
              <a:t>Accuracy used as evaluation metric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33DC-6A30-3992-E9BE-D430F902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i-FI" dirty="0" err="1"/>
              <a:t>Nested</a:t>
            </a:r>
            <a:r>
              <a:rPr lang="fi-FI" dirty="0"/>
              <a:t> Cross-</a:t>
            </a:r>
            <a:r>
              <a:rPr lang="fi-FI" dirty="0" err="1"/>
              <a:t>Validation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64EC0-2D44-C163-412D-FC1EE532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66018"/>
            <a:ext cx="8432800" cy="46675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Used to obtain an </a:t>
            </a:r>
            <a:r>
              <a:rPr lang="en-US" sz="2400" b="1" dirty="0"/>
              <a:t>unbiased estimate</a:t>
            </a:r>
            <a:r>
              <a:rPr lang="en-US" sz="2400" dirty="0"/>
              <a:t> of model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Consists of </a:t>
            </a:r>
            <a:r>
              <a:rPr lang="en-US" sz="2400" b="1" dirty="0"/>
              <a:t>two cross-validation loops</a:t>
            </a:r>
            <a:endParaRPr lang="en-US" sz="2400" dirty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Inner loop (model selection):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Uses k-fold cross-validation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Performs </a:t>
            </a:r>
            <a:r>
              <a:rPr lang="en-US" sz="2400" b="1" dirty="0" err="1"/>
              <a:t>GridSearchCV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Selects the best hyperparameters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Outer loop (performance estimation):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Uses a separate k-fold split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Evaluates the model selected in the inner loop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Estimates performance on </a:t>
            </a:r>
            <a:r>
              <a:rPr lang="en-US" sz="2400" b="1" dirty="0"/>
              <a:t>unseen data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Final performance is reported as the </a:t>
            </a:r>
            <a:r>
              <a:rPr lang="en-US" sz="2400" b="1" dirty="0"/>
              <a:t>mean accuracy of the outer folds</a:t>
            </a:r>
            <a:endParaRPr lang="en-US" sz="2400" dirty="0"/>
          </a:p>
          <a:p>
            <a:endParaRPr lang="fi-FI" sz="3600" dirty="0"/>
          </a:p>
        </p:txBody>
      </p:sp>
    </p:spTree>
    <p:extLst>
      <p:ext uri="{BB962C8B-B14F-4D97-AF65-F5344CB8AC3E}">
        <p14:creationId xmlns:p14="http://schemas.microsoft.com/office/powerpoint/2010/main" val="3993017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classification accuracy for each model.</a:t>
            </a:r>
          </a:p>
          <a:p>
            <a:r>
              <a:rPr lang="en-US" dirty="0"/>
              <a:t>Inspect confusion matrices.</a:t>
            </a:r>
          </a:p>
          <a:p>
            <a:r>
              <a:rPr lang="en-US" dirty="0"/>
              <a:t>Review classification reports.</a:t>
            </a:r>
          </a:p>
          <a:p>
            <a:r>
              <a:rPr lang="en-US" dirty="0"/>
              <a:t>Analyze feature importance for Random Forest.</a:t>
            </a:r>
          </a:p>
          <a:p>
            <a:r>
              <a:rPr lang="en-US" dirty="0"/>
              <a:t>Visualize the feature space using PCA.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0748-2E45-BAE9-4AD2-79E08243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About the report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7EB8E-9404-F58B-C022-5CCA581C8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• You can use the template provided in Moodle </a:t>
            </a:r>
          </a:p>
          <a:p>
            <a:pPr marL="0" indent="0">
              <a:buNone/>
            </a:pPr>
            <a:r>
              <a:rPr lang="en-US" sz="2400" dirty="0"/>
              <a:t>• Write a clear report, understandable for an unspecialized reader </a:t>
            </a:r>
          </a:p>
          <a:p>
            <a:pPr marL="0" indent="0">
              <a:buNone/>
            </a:pPr>
            <a:r>
              <a:rPr lang="en-US" sz="2400" dirty="0"/>
              <a:t>• Write easily readable code with comments </a:t>
            </a:r>
          </a:p>
          <a:p>
            <a:pPr marL="0" indent="0">
              <a:buNone/>
            </a:pPr>
            <a:r>
              <a:rPr lang="en-US" sz="2400" dirty="0"/>
              <a:t>• If you exploit some code from web, provide a reference </a:t>
            </a:r>
          </a:p>
          <a:p>
            <a:pPr marL="0" indent="0">
              <a:buNone/>
            </a:pPr>
            <a:r>
              <a:rPr lang="en-US" sz="2400" dirty="0"/>
              <a:t>• Avoid redundant code! Exploit the relevant parts and modify the code for your purposes to produce only what you need </a:t>
            </a:r>
          </a:p>
          <a:p>
            <a:pPr marL="0" indent="0">
              <a:buNone/>
            </a:pPr>
            <a:r>
              <a:rPr lang="en-US" sz="2400" dirty="0"/>
              <a:t>• Everyone should submit their own implementation. It is ok to discuss the assignment with a friend. But it is not ok to copy someone's work. </a:t>
            </a:r>
          </a:p>
          <a:p>
            <a:pPr marL="0" indent="0">
              <a:buNone/>
            </a:pPr>
            <a:r>
              <a:rPr lang="en-US" sz="2400" dirty="0"/>
              <a:t>• Return your output as a working </a:t>
            </a:r>
            <a:r>
              <a:rPr lang="en-US" sz="2400" dirty="0" err="1"/>
              <a:t>Jupyter</a:t>
            </a:r>
            <a:r>
              <a:rPr lang="en-US" sz="2400" dirty="0"/>
              <a:t> notebook </a:t>
            </a:r>
          </a:p>
          <a:p>
            <a:pPr marL="0" indent="0">
              <a:buNone/>
            </a:pPr>
            <a:r>
              <a:rPr lang="en-US" sz="2400" dirty="0"/>
              <a:t>• Name your file as MLPR26_exercise_surname_firstname.jpynb</a:t>
            </a:r>
            <a:endParaRPr lang="fi-FI" sz="2400" dirty="0"/>
          </a:p>
        </p:txBody>
      </p:sp>
    </p:spTree>
    <p:extLst>
      <p:ext uri="{BB962C8B-B14F-4D97-AF65-F5344CB8AC3E}">
        <p14:creationId xmlns:p14="http://schemas.microsoft.com/office/powerpoint/2010/main" val="4179456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5D89-CE7E-226A-41E0-9232969B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Grading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B6C9-A732-27BB-74B2-DC24F60EE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/>
              <a:t>• The exercise covers a part of the grading in this course </a:t>
            </a:r>
          </a:p>
          <a:p>
            <a:pPr marL="0" indent="0">
              <a:buNone/>
            </a:pPr>
            <a:r>
              <a:rPr lang="en-US" sz="2000" dirty="0"/>
              <a:t>• The course grade consists of the exercise and the exam, with a total score of 36 points </a:t>
            </a:r>
          </a:p>
          <a:p>
            <a:pPr marL="0" indent="0">
              <a:buNone/>
            </a:pPr>
            <a:r>
              <a:rPr lang="en-US" sz="2000" dirty="0"/>
              <a:t>• Exam has 5 questions, 6 points for each </a:t>
            </a:r>
          </a:p>
          <a:p>
            <a:pPr marL="0" indent="0">
              <a:buNone/>
            </a:pPr>
            <a:r>
              <a:rPr lang="en-US" sz="2000" dirty="0"/>
              <a:t>• Exercise gives 6 exam points </a:t>
            </a:r>
          </a:p>
          <a:p>
            <a:pPr marL="0" indent="0">
              <a:buNone/>
            </a:pPr>
            <a:r>
              <a:rPr lang="en-US" sz="2000" dirty="0"/>
              <a:t>• From the exercise template, you can see how many exercise points can be acquired from each task. </a:t>
            </a:r>
          </a:p>
          <a:p>
            <a:pPr marL="0" indent="0">
              <a:buNone/>
            </a:pPr>
            <a:r>
              <a:rPr lang="en-US" sz="2000" dirty="0"/>
              <a:t>• Exam points are given according to the table below: </a:t>
            </a:r>
          </a:p>
          <a:p>
            <a:pPr marL="0" indent="0">
              <a:buNone/>
            </a:pPr>
            <a:r>
              <a:rPr lang="en-US" sz="2000" dirty="0"/>
              <a:t>	• 9–10 exercise points: 1 exam point </a:t>
            </a:r>
          </a:p>
          <a:p>
            <a:pPr marL="0" indent="0">
              <a:buNone/>
            </a:pPr>
            <a:r>
              <a:rPr lang="en-US" sz="2000" dirty="0"/>
              <a:t>	• 11–12 exercise points: 2 exam points </a:t>
            </a:r>
          </a:p>
          <a:p>
            <a:pPr marL="0" indent="0">
              <a:buNone/>
            </a:pPr>
            <a:r>
              <a:rPr lang="en-US" sz="2000" dirty="0"/>
              <a:t>	• 13–14 exercise points: 3 exam points </a:t>
            </a:r>
          </a:p>
          <a:p>
            <a:pPr marL="0" indent="0">
              <a:buNone/>
            </a:pPr>
            <a:r>
              <a:rPr lang="en-US" sz="2000" dirty="0"/>
              <a:t>	• 15–16 exercise points: 4 exam points </a:t>
            </a:r>
          </a:p>
          <a:p>
            <a:pPr marL="0" indent="0">
              <a:buNone/>
            </a:pPr>
            <a:r>
              <a:rPr lang="en-US" sz="2000" dirty="0"/>
              <a:t>	• 17–18 exercise points: 5 exam points </a:t>
            </a:r>
          </a:p>
          <a:p>
            <a:pPr marL="0" indent="0">
              <a:buNone/>
            </a:pPr>
            <a:r>
              <a:rPr lang="en-US" sz="2000" dirty="0"/>
              <a:t>	• 19–20 exercise points: 6 exam points </a:t>
            </a:r>
          </a:p>
          <a:p>
            <a:pPr marL="0" indent="0">
              <a:buNone/>
            </a:pPr>
            <a:r>
              <a:rPr lang="en-US" sz="2000" dirty="0"/>
              <a:t>• At least 9 exercise points are needed to pass the exercise </a:t>
            </a:r>
          </a:p>
          <a:p>
            <a:pPr marL="0" indent="0">
              <a:buNone/>
            </a:pPr>
            <a:r>
              <a:rPr lang="en-US" sz="2000" dirty="0"/>
              <a:t>• The points should be distributed somewhat evenly into tasks</a:t>
            </a:r>
            <a:endParaRPr lang="fi-FI" sz="2000" dirty="0"/>
          </a:p>
        </p:txBody>
      </p:sp>
    </p:spTree>
    <p:extLst>
      <p:ext uri="{BB962C8B-B14F-4D97-AF65-F5344CB8AC3E}">
        <p14:creationId xmlns:p14="http://schemas.microsoft.com/office/powerpoint/2010/main" val="4275583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4E7E-B7D3-C6EE-6E06-FE78A1539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Deadline 15</a:t>
            </a:r>
            <a:r>
              <a:rPr lang="en-US" baseline="30000" dirty="0"/>
              <a:t>th</a:t>
            </a:r>
            <a:r>
              <a:rPr lang="en-US" dirty="0"/>
              <a:t> of March at 16:00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1C73F-E7D0-D0AC-B707-C6D9B709D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No extension granted, unless you have an extremely justified reason. In such case, ask for extension well in advance! </a:t>
            </a:r>
          </a:p>
          <a:p>
            <a:pPr marL="0" indent="0">
              <a:buNone/>
            </a:pPr>
            <a:r>
              <a:rPr lang="en-US" sz="2400" dirty="0"/>
              <a:t>• Please note: Project work must be submitted before taking the e‑exam.</a:t>
            </a:r>
          </a:p>
          <a:p>
            <a:pPr marL="0" indent="0">
              <a:buNone/>
            </a:pPr>
            <a:r>
              <a:rPr lang="en-US" sz="2400" dirty="0"/>
              <a:t>• Start early, do not leave it to the last minute. This exercise will need some labor! </a:t>
            </a:r>
          </a:p>
          <a:p>
            <a:pPr marL="0" indent="0">
              <a:buNone/>
            </a:pPr>
            <a:r>
              <a:rPr lang="en-US" sz="2400" dirty="0"/>
              <a:t>• If you encounter problems, Google first, and if you can’t find an answer, ask for help </a:t>
            </a:r>
          </a:p>
          <a:p>
            <a:pPr marL="0" indent="0">
              <a:buNone/>
            </a:pPr>
            <a:r>
              <a:rPr lang="en-US" sz="2400" dirty="0"/>
              <a:t>	• In the discussion area at Moodle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fi-FI" sz="2400" dirty="0"/>
              <a:t>• </a:t>
            </a:r>
            <a:r>
              <a:rPr lang="fi-FI" sz="2400" dirty="0" err="1"/>
              <a:t>Email</a:t>
            </a:r>
            <a:r>
              <a:rPr lang="fi-FI" sz="2400" dirty="0"/>
              <a:t>: svwelg@utu.fi</a:t>
            </a:r>
          </a:p>
        </p:txBody>
      </p:sp>
    </p:spTree>
    <p:extLst>
      <p:ext uri="{BB962C8B-B14F-4D97-AF65-F5344CB8AC3E}">
        <p14:creationId xmlns:p14="http://schemas.microsoft.com/office/powerpoint/2010/main" val="3355498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1307</Words>
  <Application>Microsoft Office PowerPoint</Application>
  <PresentationFormat>On-screen Show (4:3)</PresentationFormat>
  <Paragraphs>155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Instructions for the Leaf Classification Problem</vt:lpstr>
      <vt:lpstr>Exercise task in general</vt:lpstr>
      <vt:lpstr>Anaconda</vt:lpstr>
      <vt:lpstr>Google Colaboratory</vt:lpstr>
      <vt:lpstr>Dataset</vt:lpstr>
      <vt:lpstr>Data preparation</vt:lpstr>
      <vt:lpstr>Feature extraction</vt:lpstr>
      <vt:lpstr>Second-Order Texture Features (GLCM)</vt:lpstr>
      <vt:lpstr>Why These GLCM Distances?</vt:lpstr>
      <vt:lpstr>Template Matching</vt:lpstr>
      <vt:lpstr>Feature Vector</vt:lpstr>
      <vt:lpstr>Preprocessing</vt:lpstr>
      <vt:lpstr>Classification Models</vt:lpstr>
      <vt:lpstr>K-fold cross validation</vt:lpstr>
      <vt:lpstr>Model Selection</vt:lpstr>
      <vt:lpstr>Nested Cross-Validation</vt:lpstr>
      <vt:lpstr>Evaluation</vt:lpstr>
      <vt:lpstr>About the report</vt:lpstr>
      <vt:lpstr>Grading</vt:lpstr>
      <vt:lpstr>Deadline 15th of March at 16:00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Supun Welgamage</cp:lastModifiedBy>
  <cp:revision>19</cp:revision>
  <dcterms:created xsi:type="dcterms:W3CDTF">2013-01-27T09:14:16Z</dcterms:created>
  <dcterms:modified xsi:type="dcterms:W3CDTF">2026-01-26T13:14:34Z</dcterms:modified>
  <cp:category/>
</cp:coreProperties>
</file>